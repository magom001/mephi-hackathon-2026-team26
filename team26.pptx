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840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365760"/>
            <a:ext cx="1280160" cy="1280160"/>
          </a:xfrm>
          <a:prstGeom prst="ellipse">
            <a:avLst/>
          </a:prstGeom>
          <a:solidFill>
            <a:srgbClr val="00B4A6">
              <a:alpha val="8000"/>
            </a:srgbClr>
          </a:solidFill>
          <a:ln w="19050">
            <a:solidFill>
              <a:srgbClr val="00B4A6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960120"/>
            <a:ext cx="822960" cy="822960"/>
          </a:xfrm>
          <a:prstGeom prst="ellipse">
            <a:avLst/>
          </a:prstGeom>
          <a:solidFill>
            <a:srgbClr val="4DD9CE">
              <a:alpha val="6000"/>
            </a:srgbClr>
          </a:solidFill>
          <a:ln w="19050">
            <a:solidFill>
              <a:srgbClr val="4DD9C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737360"/>
            <a:ext cx="548640" cy="548640"/>
          </a:xfrm>
          <a:prstGeom prst="ellipse">
            <a:avLst/>
          </a:prstGeom>
          <a:solidFill>
            <a:srgbClr val="00B4A6">
              <a:alpha val="10000"/>
            </a:srgbClr>
          </a:solidFill>
          <a:ln w="19050">
            <a:solidFill>
              <a:srgbClr val="00B4A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ПРОГНОЗИРОВАНИЕ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БИОЛОГИЧЕСКОЙ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АКТИВНОСТИ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D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Химических соединений против вируса гриппа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 в фармацевтической разработке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· Фармацевтическая разработка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эффективности молекул до лабораторных экспериментов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3716"/>
          </a:xfrm>
          <a:prstGeom prst="rect">
            <a:avLst/>
          </a:prstGeom>
          <a:solidFill>
            <a:srgbClr val="E8F0F7"/>
          </a:solidFill>
          <a:ln w="12700">
            <a:solidFill>
              <a:srgbClr val="E8F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26517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IC50, мМ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Концентрация, подавляющая 50% активности вируса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2468880" cy="20116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42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= лучше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265176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CC50, мМ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Концентрация, токсичная для 50% клеток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633472"/>
            <a:ext cx="2468880" cy="201168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642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= безопаснее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14300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143000"/>
            <a:ext cx="2651760" cy="292608"/>
          </a:xfrm>
          <a:prstGeom prst="rect">
            <a:avLst/>
          </a:prstGeom>
          <a:solidFill>
            <a:srgbClr val="6D4C9E"/>
          </a:solidFill>
          <a:ln w="12700">
            <a:solidFill>
              <a:srgbClr val="6D4C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Index = CC50 / IC50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633472"/>
            <a:ext cx="2468880" cy="201168"/>
          </a:xfrm>
          <a:prstGeom prst="rect">
            <a:avLst/>
          </a:prstGeom>
          <a:solidFill>
            <a:srgbClr val="6D4C9E">
              <a:alpha val="15000"/>
            </a:srgbClr>
          </a:solidFill>
          <a:ln w="12700">
            <a:solidFill>
              <a:srgbClr val="6D4C9E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642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= избирательнее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246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751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57200" y="3913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молекул в обучении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14600" y="310896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06040" y="3246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2606040" y="3913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молекул в тесте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10896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3246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4754880" y="3913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признаков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12280" y="310896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03720" y="32461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903720" y="3913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качества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Разведочный анализ данных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наблюдения, определившие выбор методов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3716"/>
          </a:xfrm>
          <a:prstGeom prst="rect">
            <a:avLst/>
          </a:prstGeom>
          <a:solidFill>
            <a:srgbClr val="E8F0F7"/>
          </a:solidFill>
          <a:ln w="12700">
            <a:solidFill>
              <a:srgbClr val="E8F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" cy="1600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асимметрия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Коэффициент асимметрии SI = 15.63; медиана = 4, максимум = 15620 (в 3905 раз больше). RMSE квадратично усиливает выбросы.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64008" cy="1600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344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Малая выборка (N/p ≈ 3.6)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62763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751 объект и 210 признаков — риск переобучения. Необходимы регуляризация и бэггинг.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64008" cy="1600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17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одиночные связи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Макс. корреляция Спирмана: IC50=0.282, CC50=0.292, SI=0.214. Сигнал в многомерных взаимодействиях — нужны деревья.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880360"/>
            <a:ext cx="64008" cy="16002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017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Умеренная мультиколлинеарность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41071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1.3% пар признаков имеют |r| &gt; 0.8 (244 пары из 18336). Не препятствует работе ансамблей.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 предобработки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конвейера для разных классов моделей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3716"/>
          </a:xfrm>
          <a:prstGeom prst="rect">
            <a:avLst/>
          </a:prstGeom>
          <a:solidFill>
            <a:srgbClr val="E8F0F7"/>
          </a:solidFill>
          <a:ln w="12700">
            <a:solidFill>
              <a:srgbClr val="E8F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1920240" cy="10515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" y="11887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Сырые данные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71907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751 × 210 признаков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581912"/>
            <a:ext cx="2560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508760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A6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192024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1887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Импутация медианой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71907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пропуска в train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70832" y="1581912"/>
            <a:ext cx="2560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508760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A6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19202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11887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константных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0872" y="171907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→ 192 признака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47104" y="1581912"/>
            <a:ext cx="2560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5704" y="1508760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A6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143000"/>
            <a:ext cx="1920240" cy="1051560"/>
          </a:xfrm>
          <a:prstGeom prst="rect">
            <a:avLst/>
          </a:prstGeom>
          <a:solidFill>
            <a:srgbClr val="4DD9CE"/>
          </a:solidFill>
          <a:ln w="12700">
            <a:solidFill>
              <a:srgbClr val="4DD9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67144" y="11887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Стандартизация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67144" y="171907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GPR/Ridge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423160"/>
            <a:ext cx="3931920" cy="1005840"/>
          </a:xfrm>
          <a:prstGeom prst="rect">
            <a:avLst/>
          </a:prstGeom>
          <a:solidFill>
            <a:srgbClr val="EBF9F7"/>
          </a:solidFill>
          <a:ln w="1270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Деревья (HGB, CB, LGB)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2779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Импутация → обучение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Инвариантны к масштабу и константным признакам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4114800" cy="1005840"/>
          </a:xfrm>
          <a:prstGeom prst="rect">
            <a:avLst/>
          </a:prstGeom>
          <a:solidFill>
            <a:srgbClr val="EBF0F9"/>
          </a:solidFill>
          <a:ln w="12700">
            <a:solidFill>
              <a:srgbClr val="1C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2487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Ядерные методы (GPR, Ridge)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27797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Импутация → удаление констант → стандартизация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ядра чувствительна к масштабу признаков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пропуски заменяются медианой по столбцу (стратегия оправдана: &lt; 0.02% ячеек)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модели ансамбля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семейства с принципиально разными inductive bias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3716"/>
          </a:xfrm>
          <a:prstGeom prst="rect">
            <a:avLst/>
          </a:prstGeom>
          <a:solidFill>
            <a:srgbClr val="E8F0F7"/>
          </a:solidFill>
          <a:ln w="12700">
            <a:solidFill>
              <a:srgbClr val="E8F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9436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2070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потерь: L1 (MAE)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9842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мешков, row_bootstrap=True, подобранные гиперпараметры (RandomizedSearchCV)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97280"/>
            <a:ext cx="59436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2070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CatBoostRegressor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1645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потерь: L1 (MAE)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94960" y="19842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мешков, встроенный bootstrap Bernoulli, subsample=0.8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17520"/>
            <a:ext cx="594360" cy="1691640"/>
          </a:xfrm>
          <a:prstGeom prst="rect">
            <a:avLst/>
          </a:prstGeom>
          <a:solidFill>
            <a:srgbClr val="25496B"/>
          </a:solidFill>
          <a:ln w="12700">
            <a:solidFill>
              <a:srgbClr val="2549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1272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566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потерь: L1 (MAE)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90448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мешков, subsample=0.8, num_leaves=31, max_depth=6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17520"/>
            <a:ext cx="594360" cy="1691640"/>
          </a:xfrm>
          <a:prstGeom prst="rect">
            <a:avLst/>
          </a:prstGeom>
          <a:solidFill>
            <a:srgbClr val="6D4C9E"/>
          </a:solidFill>
          <a:ln w="12700">
            <a:solidFill>
              <a:srgbClr val="6D4C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1272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3566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потерь: ядро Матерна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390448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Матерна ν=2.5 + WhiteKernel, декоррелирован с деревьями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BaggedRegressor: HGB — 20 мешков, CatBoost — 10, LightGBM — 20. Бэггинг снижает дисперсию предсказаний при малой выборке (N=751)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выбор: Гауссовский процесс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Декоррелированный источник сигнала для реального улучшения ансамбля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3716"/>
          </a:xfrm>
          <a:prstGeom prst="rect">
            <a:avLst/>
          </a:prstGeom>
          <a:solidFill>
            <a:srgbClr val="E8F0F7"/>
          </a:solidFill>
          <a:ln w="12700">
            <a:solidFill>
              <a:srgbClr val="E8F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деревьев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остатков HGB↔CB↔LGB = 0.88–0.98 по всем целевым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Усреднение 3 похожих моделей даёт минимальный выигрыш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 «видит» данные через расстояния в признаковом пространстве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остатков GPR↔деревья принципиально ниже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803904"/>
            <a:ext cx="4023360" cy="749808"/>
          </a:xfrm>
          <a:prstGeom prst="rect">
            <a:avLst/>
          </a:prstGeom>
          <a:solidFill>
            <a:srgbClr val="EBF9F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Матерна ν = 2.5: гладкая интерполяция через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функцию похожести объектов — противоположность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кусочно-постоянным функциям деревьев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IC50: корреляция остатков (Спирман)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62763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07608" y="162763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65976" y="162763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24344" y="162763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1947672"/>
            <a:ext cx="658368" cy="502920"/>
          </a:xfrm>
          <a:prstGeom prst="rect">
            <a:avLst/>
          </a:prstGeom>
          <a:solidFill>
            <a:srgbClr val="E0EA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9476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07608" y="1947672"/>
            <a:ext cx="658368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19476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65976" y="1947672"/>
            <a:ext cx="658368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5976" y="19476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24344" y="1947672"/>
            <a:ext cx="658368" cy="502920"/>
          </a:xfrm>
          <a:prstGeom prst="rect">
            <a:avLst/>
          </a:prstGeom>
          <a:solidFill>
            <a:srgbClr val="81C7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19476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49240" y="2450592"/>
            <a:ext cx="658368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245059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07608" y="2450592"/>
            <a:ext cx="658368" cy="502920"/>
          </a:xfrm>
          <a:prstGeom prst="rect">
            <a:avLst/>
          </a:prstGeom>
          <a:solidFill>
            <a:srgbClr val="E0EA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07608" y="245059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65976" y="2450592"/>
            <a:ext cx="658368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65976" y="245059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24344" y="2450592"/>
            <a:ext cx="658368" cy="502920"/>
          </a:xfrm>
          <a:prstGeom prst="rect">
            <a:avLst/>
          </a:prstGeom>
          <a:solidFill>
            <a:srgbClr val="81C7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24344" y="245059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49240" y="2953512"/>
            <a:ext cx="658368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295351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07608" y="2953512"/>
            <a:ext cx="658368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07608" y="295351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65976" y="2953512"/>
            <a:ext cx="658368" cy="502920"/>
          </a:xfrm>
          <a:prstGeom prst="rect">
            <a:avLst/>
          </a:prstGeom>
          <a:solidFill>
            <a:srgbClr val="E0EA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65976" y="295351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24344" y="2953512"/>
            <a:ext cx="658368" cy="502920"/>
          </a:xfrm>
          <a:prstGeom prst="rect">
            <a:avLst/>
          </a:prstGeom>
          <a:solidFill>
            <a:srgbClr val="81C7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24344" y="295351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49240" y="3456432"/>
            <a:ext cx="658368" cy="502920"/>
          </a:xfrm>
          <a:prstGeom prst="rect">
            <a:avLst/>
          </a:prstGeom>
          <a:solidFill>
            <a:srgbClr val="81C7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34564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07608" y="3456432"/>
            <a:ext cx="658368" cy="502920"/>
          </a:xfrm>
          <a:prstGeom prst="rect">
            <a:avLst/>
          </a:prstGeom>
          <a:solidFill>
            <a:srgbClr val="81C7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07608" y="34564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5976" y="3456432"/>
            <a:ext cx="658368" cy="502920"/>
          </a:xfrm>
          <a:prstGeom prst="rect">
            <a:avLst/>
          </a:prstGeom>
          <a:solidFill>
            <a:srgbClr val="81C7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5976" y="34564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24344" y="3456432"/>
            <a:ext cx="658368" cy="502920"/>
          </a:xfrm>
          <a:prstGeom prst="rect">
            <a:avLst/>
          </a:prstGeom>
          <a:solidFill>
            <a:srgbClr val="E0EA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24344" y="34564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63440" y="42062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 Деревья: 0.85–0.96 (похожи)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44622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GPR↔деревья: 0.47–0.93 (SI до 0.47!) — реальное улучшение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ансамбль: веса и калибровка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NNLS-смешивание OOF-предсказаний + отсечение по физическому смыслу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3716"/>
          </a:xfrm>
          <a:prstGeom prst="rect">
            <a:avLst/>
          </a:prstGeom>
          <a:solidFill>
            <a:srgbClr val="E8F0F7"/>
          </a:solidFill>
          <a:ln w="12700">
            <a:solidFill>
              <a:srgbClr val="E8F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весов (NNLS)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64008" cy="685800"/>
          </a:xfrm>
          <a:prstGeom prst="rect">
            <a:avLst/>
          </a:prstGeom>
          <a:solidFill>
            <a:srgbClr val="6D4C9E"/>
          </a:solidFill>
          <a:ln w="12700">
            <a:solidFill>
              <a:srgbClr val="6D4C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82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NNLS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Математический оптимум min‖y − Mw‖² при w ≥ 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532888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51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NNLS-simplex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2825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Нормировка: w / Σw. IC50, CC50 → устойчивый масштаб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Равные веса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6941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→ всегда equal weights. Тяжёлый хвост нестабилен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315968"/>
            <a:ext cx="4023360" cy="256032"/>
          </a:xfrm>
          <a:prstGeom prst="rect">
            <a:avLst/>
          </a:prstGeom>
          <a:solidFill>
            <a:srgbClr val="EBF9F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34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подбираются только на OOF → тест не участвует в отборе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отсечения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Физически все три величины ≥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могут давать отрицательные предсказания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212848"/>
            <a:ext cx="384048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ŷ_cal = clip( ŷ,  0,  c_upper 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2971800"/>
            <a:ext cx="5029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9718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IC50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76672" y="29992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× p₉₉(train) = 2001.4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76672" y="31729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sanity-guard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0600" y="3493008"/>
            <a:ext cx="5029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493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CC50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76672" y="3520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× p₉₉(train) = 4743.0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76672" y="36941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sanity-guard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00600" y="4014216"/>
            <a:ext cx="5029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0142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76672" y="40416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Сетка на OOF = 221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76672" y="42153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RMSE: 782.31→782.05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OOF RMSE по этапам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последовательно улучшает качество ансамбля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3716"/>
          </a:xfrm>
          <a:prstGeom prst="rect">
            <a:avLst/>
          </a:prstGeom>
          <a:solidFill>
            <a:srgbClr val="E8F0F7"/>
          </a:solidFill>
          <a:ln w="12700">
            <a:solidFill>
              <a:srgbClr val="E8F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solidFill>
            <a:srgbClr val="1C3557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521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11521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0" y="11521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CC50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0" y="11521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0" y="11521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0" y="11521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17904"/>
            <a:ext cx="8412480" cy="457200"/>
          </a:xfrm>
          <a:prstGeom prst="rect">
            <a:avLst/>
          </a:prstGeom>
          <a:solidFill>
            <a:srgbClr val="F6F9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72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(baseline)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1572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345.41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1572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494.47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1572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788.48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1572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542.79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1572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938528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993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HGB-bag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330.00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463.69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788.37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527.35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1993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359152"/>
            <a:ext cx="8412480" cy="457200"/>
          </a:xfrm>
          <a:prstGeom prst="rect">
            <a:avLst/>
          </a:prstGeom>
          <a:solidFill>
            <a:srgbClr val="F6F9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4140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CatBoost-bag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328.69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0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462.65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787.10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526.15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0" y="24140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779776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LightGBM-bag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08960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325.89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97680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468.70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788.29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527.62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63840" y="2834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200400"/>
            <a:ext cx="8412480" cy="457200"/>
          </a:xfrm>
          <a:prstGeom prst="rect">
            <a:avLst/>
          </a:prstGeom>
          <a:solidFill>
            <a:srgbClr val="EBF0F9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552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108960" y="32552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321.62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97680" y="32552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457.05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0" y="32552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776.75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75120" y="32552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518.47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863840" y="32552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D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одиночный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675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NNLS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108960" y="36758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319.69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297680" y="36758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452.63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0" y="36758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782.31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75120" y="36758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518.21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863840" y="3675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041648"/>
            <a:ext cx="8412480" cy="457200"/>
          </a:xfrm>
          <a:prstGeom prst="rect">
            <a:avLst/>
          </a:prstGeom>
          <a:solidFill>
            <a:srgbClr val="EBF9F7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0965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+ clip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108960" y="40965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319.66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297680" y="40965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452.63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0" y="40965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782.05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75120" y="40965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518.11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863840" y="40965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5760" y="4663440"/>
            <a:ext cx="841248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solidFill>
            <a:srgbClr val="EBF9F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7914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Kaggle public leaderboard: score 266.75  —  среднее RMSE по IC50, CC50, SI на тестовой выборке; CatBoost и LightGBM дополнительно снижают итоговый RMSE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 признаков (Permutation Importance)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распределён между десятками признаков — нет единственного главного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3716"/>
          </a:xfrm>
          <a:prstGeom prst="rect">
            <a:avLst/>
          </a:prstGeom>
          <a:solidFill>
            <a:srgbClr val="E8F0F7"/>
          </a:solidFill>
          <a:ln w="12700">
            <a:solidFill>
              <a:srgbClr val="E8F0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NHOHCount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1088136"/>
            <a:ext cx="4754880" cy="2560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105156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4081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BCUT2D_MWLOW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8920" y="1444752"/>
            <a:ext cx="4089024" cy="2560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23664" y="140817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7647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BCUT2D_MRLOW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8920" y="1801368"/>
            <a:ext cx="2931708" cy="2560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6348" y="176479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1214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PEOE_VSA6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88920" y="2157984"/>
            <a:ext cx="2827857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2497" y="21214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24780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BCUT2D_MWHI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88920" y="2514600"/>
            <a:ext cx="2733446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8086" y="247802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VSA_EState5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88920" y="2871216"/>
            <a:ext cx="2510795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5435" y="283464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1912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3227832"/>
            <a:ext cx="21735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8180" y="319125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35478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EState_VSA3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88920" y="3584448"/>
            <a:ext cx="2166983" cy="25603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623" y="354787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39044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BalabanJ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88920" y="3941064"/>
            <a:ext cx="1927023" cy="25603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1663" y="390448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42611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PEOE_VSA7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88920" y="4297680"/>
            <a:ext cx="1866443" cy="25603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1083" y="426110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BF9F7"/>
          </a:solidFill>
          <a:ln w="1270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сигнал сосредоточен в многомерных взаимодействиях, а не в отдельных признаках → отбор по одиночной корреляции не применяется, используются все 210 признаков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00B4A6">
              <a:alpha val="7000"/>
            </a:srgbClr>
          </a:solidFill>
          <a:ln w="12700">
            <a:solidFill>
              <a:srgbClr val="00B4A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выводы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0" y="137160"/>
            <a:ext cx="2377440" cy="1005840"/>
          </a:xfrm>
          <a:prstGeom prst="rect">
            <a:avLst/>
          </a:prstGeom>
          <a:solidFill>
            <a:srgbClr val="1C3557"/>
          </a:solidFill>
          <a:ln w="19050">
            <a:solidFill>
              <a:srgbClr val="00B4A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Kaggle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29400" y="320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266.75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1069848"/>
            <a:ext cx="320040" cy="3200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69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10058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HGB + CatBoost + LightGBM + GPR превосходит каждую модель в отдельности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171907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 декоррелирован с деревьями (SI: ρ ≈ 0.47–0.53, IC50/CC50: ρ ≈ 0.85–0.93) — ключевой источник улучшения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496312"/>
            <a:ext cx="320040" cy="3200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43230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потерь L1 (MAE) устойчива к тяжёлым хвостам IC50, CC50, SI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209544"/>
            <a:ext cx="320040" cy="3200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9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314553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ансамбля: 518.11 → Kaggle score: 266.75 (тестовая выборка без выбросов)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Дальнейшие направления: молекулярные графовые нейросети (GNN) · расширение дескрипторов · стэкинг второго уровня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· Фармацевтическая разработка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</Words>
  <Application>Microsoft Macintosh PowerPoint</Application>
  <PresentationFormat>Экран (16:9)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Прогнозирование биологической активности химических соединений</dc:title>
  <dc:subject>PptxGenJS Presentation</dc:subject>
  <dc:creator>PptxGenJS</dc:creator>
  <cp:lastModifiedBy>Kirill</cp:lastModifiedBy>
  <cp:revision>2</cp:revision>
  <dcterms:created xsi:type="dcterms:W3CDTF">2026-05-26T19:00:32Z</dcterms:created>
  <dcterms:modified xsi:type="dcterms:W3CDTF">2026-05-26T19:03:07Z</dcterms:modified>
</cp:coreProperties>
</file>